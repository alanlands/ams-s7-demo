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ource Sans Pro"/>
              </a:rPr>
              <a:t>AI-Assisted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E3C9CE"/>
                </a:solidFill>
                <a:latin typeface="Source Sans Pro"/>
              </a:rPr>
              <a:t>From business requirement to production release — with humans in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750000"/>
            <a:ext cx="2011680" cy="3810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8A9A0"/>
                </a:solidFill>
                <a:latin typeface="Source Sans Pro"/>
              </a:rPr>
              <a:t>S7 · Delivery Scope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6362F"/>
                </a:solidFill>
                <a:latin typeface="Source Sans Pro"/>
              </a:rPr>
              <a:t>The idea,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732536" cy="3810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36362F"/>
                </a:solidFill>
                <a:latin typeface="Source Sans Pro"/>
              </a:rPr>
              <a:t>AI does the heavy lifting of delivery —</a:t>
            </a:r>
          </a:p>
          <a:p>
            <a:pPr algn="l"/>
            <a:r>
              <a:rPr sz="2600" b="0">
                <a:solidFill>
                  <a:srgbClr val="7A0820"/>
                </a:solidFill>
                <a:latin typeface="Source Sans Pro"/>
              </a:rPr>
              <a:t>analysis, design, stories, code, tests, documentation —</a:t>
            </a:r>
          </a:p>
          <a:p>
            <a:pPr algn="l"/>
            <a:r>
              <a:rPr sz="3200" b="1">
                <a:solidFill>
                  <a:srgbClr val="36362F"/>
                </a:solidFill>
                <a:latin typeface="Source Sans Pro"/>
              </a:rPr>
              <a:t>and nothing reaches production without passing our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029200"/>
            <a:ext cx="9235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525146"/>
                </a:solidFill>
                <a:latin typeface="Source Sans Pro"/>
              </a:rPr>
              <a:t>Not a black box. Every step is gated, logged, and traceable.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6362F"/>
                </a:solidFill>
                <a:latin typeface="Source Sans Pro"/>
              </a:rPr>
              <a:t>How work will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732536" cy="3810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146"/>
                </a:solidFill>
                <a:latin typeface="Source Sans Pro"/>
              </a:rPr>
              <a:t>One pipeline, start to finish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1298448" cy="96012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12984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Sans Pro"/>
              </a:rPr>
              <a:t>Business
requirement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01368" y="2779776"/>
            <a:ext cx="237744" cy="256032"/>
          </a:xfrm>
          <a:prstGeom prst="rightArrow">
            <a:avLst/>
          </a:prstGeom>
          <a:solidFill>
            <a:srgbClr val="85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39112" y="2423160"/>
            <a:ext cx="1298448" cy="96012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2423160"/>
            <a:ext cx="12984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Sans Pro"/>
              </a:rPr>
              <a:t>AI
assessment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37560" y="2779776"/>
            <a:ext cx="237744" cy="256032"/>
          </a:xfrm>
          <a:prstGeom prst="rightArrow">
            <a:avLst/>
          </a:prstGeom>
          <a:solidFill>
            <a:srgbClr val="85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75304" y="2423160"/>
            <a:ext cx="1298448" cy="96012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2423160"/>
            <a:ext cx="12984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Sans Pro"/>
              </a:rPr>
              <a:t>AI design
(diagrams)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3752" y="2779776"/>
            <a:ext cx="237744" cy="256032"/>
          </a:xfrm>
          <a:prstGeom prst="rightArrow">
            <a:avLst/>
          </a:prstGeom>
          <a:solidFill>
            <a:srgbClr val="85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1496" y="2423160"/>
            <a:ext cx="1298448" cy="960120"/>
          </a:xfrm>
          <a:prstGeom prst="rect">
            <a:avLst/>
          </a:prstGeom>
          <a:solidFill>
            <a:srgbClr val="B4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2423160"/>
            <a:ext cx="12984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Sans Pro"/>
              </a:rPr>
              <a:t>HUMAN
REVIEW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09944" y="2779776"/>
            <a:ext cx="237744" cy="256032"/>
          </a:xfrm>
          <a:prstGeom prst="rightArrow">
            <a:avLst/>
          </a:prstGeom>
          <a:solidFill>
            <a:srgbClr val="85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47688" y="2423160"/>
            <a:ext cx="1298448" cy="96012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423160"/>
            <a:ext cx="12984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Sans Pro"/>
              </a:rPr>
              <a:t>User
stories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46136" y="2779776"/>
            <a:ext cx="237744" cy="256032"/>
          </a:xfrm>
          <a:prstGeom prst="rightArrow">
            <a:avLst/>
          </a:prstGeom>
          <a:solidFill>
            <a:srgbClr val="85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423160"/>
            <a:ext cx="1298448" cy="96012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23160"/>
            <a:ext cx="12984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Sans Pro"/>
              </a:rPr>
              <a:t>Build &amp;
test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82328" y="2779776"/>
            <a:ext cx="237744" cy="256032"/>
          </a:xfrm>
          <a:prstGeom prst="rightArrow">
            <a:avLst/>
          </a:prstGeom>
          <a:solidFill>
            <a:srgbClr val="85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0072" y="2423160"/>
            <a:ext cx="1298448" cy="960120"/>
          </a:xfrm>
          <a:prstGeom prst="rect">
            <a:avLst/>
          </a:prstGeom>
          <a:solidFill>
            <a:srgbClr val="B4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2423160"/>
            <a:ext cx="12984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Sans Pro"/>
              </a:rPr>
              <a:t>HUMAN
APPROVAL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1018520" y="2779776"/>
            <a:ext cx="237744" cy="256032"/>
          </a:xfrm>
          <a:prstGeom prst="rightArrow">
            <a:avLst/>
          </a:prstGeom>
          <a:solidFill>
            <a:srgbClr val="85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56264" y="2423160"/>
            <a:ext cx="1298448" cy="960120"/>
          </a:xfrm>
          <a:prstGeom prst="rect">
            <a:avLst/>
          </a:prstGeom>
          <a:solidFill>
            <a:srgbClr val="12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56264" y="2423160"/>
            <a:ext cx="12984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Sans Pro"/>
              </a:rPr>
              <a:t>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77639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525146"/>
                </a:solidFill>
                <a:latin typeface="Source Sans Pro"/>
              </a:rPr>
              <a:t>•  AI prepares every deliverable: assessment, design diagrams, stories, code, tests, docs.</a:t>
            </a:r>
          </a:p>
          <a:p>
            <a:pPr algn="l"/>
            <a:r>
              <a:rPr sz="1900" b="0">
                <a:solidFill>
                  <a:srgbClr val="525146"/>
                </a:solidFill>
                <a:latin typeface="Source Sans Pro"/>
              </a:rPr>
              <a:t>•  The gold boxes are decision points — a person reviews and approves before work continues.</a:t>
            </a:r>
          </a:p>
          <a:p>
            <a:pPr algn="l"/>
            <a:r>
              <a:rPr sz="1900" b="0">
                <a:solidFill>
                  <a:srgbClr val="525146"/>
                </a:solidFill>
                <a:latin typeface="Source Sans Pro"/>
              </a:rPr>
              <a:t>•  If the reviewer rejects, the pipeline stops. That is by design, not a limitation.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6362F"/>
                </a:solidFill>
                <a:latin typeface="Source Sans Pro"/>
              </a:rPr>
              <a:t>Nothing advances without passing a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732536" cy="3810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146"/>
                </a:solidFill>
                <a:latin typeface="Source Sans Pro"/>
              </a:rPr>
              <a:t>Five checkpoints from intake to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103120" cy="100584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Sans Pro"/>
              </a:rPr>
              <a:t>Gates 0–2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01952"/>
            <a:ext cx="8321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7A0820"/>
                </a:solidFill>
                <a:latin typeface="Source Sans Pro"/>
              </a:rPr>
              <a:t>Completeness checks</a:t>
            </a:r>
          </a:p>
          <a:p>
            <a:pPr algn="l"/>
            <a:r>
              <a:rPr sz="1600" b="0">
                <a:solidFill>
                  <a:srgbClr val="525146"/>
                </a:solidFill>
                <a:latin typeface="Source Sans Pro"/>
              </a:rPr>
              <a:t>Is every requirement mapped to a story? Is every story testable? Automated checks — before any human spends time reviewing.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2103120" cy="100584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Sans Pro"/>
              </a:rPr>
              <a:t>Gate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73552"/>
            <a:ext cx="8321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7A0820"/>
                </a:solidFill>
                <a:latin typeface="Source Sans Pro"/>
              </a:rPr>
              <a:t>Independent review</a:t>
            </a:r>
          </a:p>
          <a:p>
            <a:pPr algn="l"/>
            <a:r>
              <a:rPr sz="1600" b="0">
                <a:solidFill>
                  <a:srgbClr val="525146"/>
                </a:solidFill>
                <a:latin typeface="Source Sans Pro"/>
              </a:rPr>
              <a:t>A second, separate AI reviews the first one's work against the design. Critical gaps block progress. No phase approves its own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2103120" cy="100584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Sans Pro"/>
              </a:rPr>
              <a:t>Gate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45152"/>
            <a:ext cx="8321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7A0820"/>
                </a:solidFill>
                <a:latin typeface="Source Sans Pro"/>
              </a:rPr>
              <a:t>Human approval</a:t>
            </a:r>
          </a:p>
          <a:p>
            <a:pPr algn="l"/>
            <a:r>
              <a:rPr sz="1600" b="0">
                <a:solidFill>
                  <a:srgbClr val="525146"/>
                </a:solidFill>
                <a:latin typeface="Source Sans Pro"/>
              </a:rPr>
              <a:t>A person makes the final call before release. The system cannot ship on its 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89320"/>
            <a:ext cx="10789920" cy="502920"/>
          </a:xfrm>
          <a:prstGeom prst="rect">
            <a:avLst/>
          </a:prstGeom>
          <a:solidFill>
            <a:srgbClr val="F7E9EC"/>
          </a:solidFill>
          <a:ln w="12700">
            <a:solidFill>
              <a:srgbClr val="A20A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10789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A0820"/>
                </a:solidFill>
                <a:latin typeface="Source Sans Pro"/>
              </a:rPr>
              <a:t>The gates are real: a rejection stops the pipeline. We will demonstrate that live.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6362F"/>
                </a:solidFill>
                <a:latin typeface="Source Sans Pro"/>
              </a:rPr>
              <a:t>Every output can be traced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732536" cy="3810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146"/>
                </a:solidFill>
                <a:latin typeface="Source Sans Pro"/>
              </a:rPr>
              <a:t>If something is wrong, we can find out why in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1663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8100" cy="1874519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19"/>
            <a:ext cx="4700000" cy="1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6362F"/>
                </a:solidFill>
                <a:latin typeface="Source Sans Pro"/>
              </a:rPr>
              <a:t>Provenance ledger</a:t>
            </a:r>
          </a:p>
          <a:p>
            <a:pPr algn="l"/>
            <a:r>
              <a:rPr sz="1500" b="0">
                <a:solidFill>
                  <a:srgbClr val="525146"/>
                </a:solidFill>
                <a:latin typeface="Source Sans Pro"/>
              </a:rPr>
              <a:t>A tamper-evident record of every artifact: who made it, when, and from what input.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74519"/>
            <a:ext cx="51663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38100" cy="1874519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19"/>
            <a:ext cx="4700000" cy="1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6362F"/>
                </a:solidFill>
                <a:latin typeface="Source Sans Pro"/>
              </a:rPr>
              <a:t>Traceability matrix</a:t>
            </a:r>
          </a:p>
          <a:p>
            <a:pPr algn="l"/>
            <a:r>
              <a:rPr sz="1500" b="0">
                <a:solidFill>
                  <a:srgbClr val="525146"/>
                </a:solidFill>
                <a:latin typeface="Source Sans Pro"/>
              </a:rPr>
              <a:t>Requirement → design → story → code → test → release, linked end to end. A defect traces backward in one lookup.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51663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38100" cy="1874519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39"/>
            <a:ext cx="4700000" cy="1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6362F"/>
                </a:solidFill>
                <a:latin typeface="Source Sans Pro"/>
              </a:rPr>
              <a:t>Activity log</a:t>
            </a:r>
          </a:p>
          <a:p>
            <a:pPr algn="l"/>
            <a:r>
              <a:rPr sz="1500" b="0">
                <a:solidFill>
                  <a:srgbClr val="525146"/>
                </a:solidFill>
                <a:latin typeface="Source Sans Pro"/>
              </a:rPr>
              <a:t>Every AI session logged: what it did, how long it took, what it produced. Shows real velocity and real bottlenecks.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977639"/>
            <a:ext cx="51663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977639"/>
            <a:ext cx="38100" cy="1874519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39"/>
            <a:ext cx="4700000" cy="1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6362F"/>
                </a:solidFill>
                <a:latin typeface="Source Sans Pro"/>
              </a:rPr>
              <a:t>Staleness detection</a:t>
            </a:r>
          </a:p>
          <a:p>
            <a:pPr algn="l"/>
            <a:r>
              <a:rPr sz="1500" b="0">
                <a:solidFill>
                  <a:srgbClr val="525146"/>
                </a:solidFill>
                <a:latin typeface="Source Sans Pro"/>
              </a:rPr>
              <a:t>If a design changes, everything built on it is flagged out-of-date and must be refreshed before release.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6362F"/>
                </a:solidFill>
                <a:latin typeface="Source Sans Pro"/>
              </a:rPr>
              <a:t>The ten building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732536" cy="3810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146"/>
                </a:solidFill>
                <a:latin typeface="Source Sans Pro"/>
              </a:rPr>
              <a:t>Grouped by what they do for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3429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148840"/>
            <a:ext cx="2971800" cy="54864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971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ource Sans Pro"/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25146"/>
                </a:solidFill>
                <a:latin typeface="Source Sans Pro"/>
              </a:rPr>
              <a:t>Keeps humans in 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Gated pipeline (5 gates)</a:t>
            </a:r>
          </a:p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Completeness checks</a:t>
            </a:r>
          </a:p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Independent review</a:t>
            </a:r>
          </a:p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Staleness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74519"/>
            <a:ext cx="3429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2148840"/>
            <a:ext cx="2971800" cy="548640"/>
          </a:xfrm>
          <a:prstGeom prst="rect">
            <a:avLst/>
          </a:prstGeom>
          <a:solidFill>
            <a:srgbClr val="B4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2971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ource Sans Pro"/>
              </a:rPr>
              <a:t>TRUST &amp;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803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25146"/>
                </a:solidFill>
                <a:latin typeface="Source Sans Pro"/>
              </a:rPr>
              <a:t>Proves what happened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42900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Provenance ledger</a:t>
            </a:r>
          </a:p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Traceability matrix</a:t>
            </a:r>
          </a:p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Activity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3429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2148840"/>
            <a:ext cx="2971800" cy="548640"/>
          </a:xfrm>
          <a:prstGeom prst="rect">
            <a:avLst/>
          </a:prstGeom>
          <a:solidFill>
            <a:srgbClr val="12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148840"/>
            <a:ext cx="2971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ource Sans Pro"/>
              </a:rPr>
              <a:t>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803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25146"/>
                </a:solidFill>
                <a:latin typeface="Source Sans Pro"/>
              </a:rPr>
              <a:t>Makes it repeatable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2900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Four-layer architecture</a:t>
            </a:r>
          </a:p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Story quality standards</a:t>
            </a:r>
          </a:p>
          <a:p>
            <a:pPr algn="l"/>
            <a:r>
              <a:rPr sz="1500" b="0">
                <a:solidFill>
                  <a:srgbClr val="36362F"/>
                </a:solidFill>
                <a:latin typeface="Source Sans Pro"/>
              </a:rPr>
              <a:t>•  Change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6362F"/>
                </a:solidFill>
                <a:latin typeface="Source Sans Pro"/>
              </a:rPr>
              <a:t>Ten features. Three jobs. One governed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6362F"/>
                </a:solidFill>
                <a:latin typeface="Source Sans Pro"/>
              </a:rPr>
              <a:t>What happens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732536" cy="3810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36362F"/>
                </a:solidFill>
                <a:latin typeface="Source Sans Pro"/>
              </a:rPr>
              <a:t>•  We build these ten capabilities point by point, in priority order.</a:t>
            </a:r>
          </a:p>
          <a:p>
            <a:pPr algn="l"/>
            <a:r>
              <a:rPr sz="2100" b="0">
                <a:solidFill>
                  <a:srgbClr val="36362F"/>
                </a:solidFill>
                <a:latin typeface="Source Sans Pro"/>
              </a:rPr>
              <a:t>•  Every stage ends with something that runs — a working demo, not a slide.</a:t>
            </a:r>
          </a:p>
          <a:p>
            <a:pPr algn="l"/>
            <a:r>
              <a:rPr sz="2100" b="0">
                <a:solidFill>
                  <a:srgbClr val="36362F"/>
                </a:solidFill>
                <a:latin typeface="Source Sans Pro"/>
              </a:rPr>
              <a:t>•  Anything simulated is clearly labelled as simulated. What you see live is real.</a:t>
            </a:r>
          </a:p>
          <a:p>
            <a:pPr algn="l"/>
            <a:r>
              <a:rPr sz="2100" b="0">
                <a:solidFill>
                  <a:srgbClr val="36362F"/>
                </a:solidFill>
                <a:latin typeface="Source Sans Pro"/>
              </a:rPr>
              <a:t>•  Human checkpoints stay on until a workflow has proven itself — autonomy is earned, not assumed.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ource Sans Pro"/>
              </a:rPr>
              <a:t>You will see the pipeline run end to end, watch a gate block bad work, and trace an output back to its requirement.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3C9CE"/>
                </a:solidFill>
                <a:latin typeface="Source Sans Pro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ource Sans Pro"/>
              </a:rPr>
              <a:t>Speed from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ource Sans Pro"/>
              </a:rPr>
              <a:t>Confidence from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00000"/>
            <a:ext cx="2011680" cy="38100"/>
          </a:xfrm>
          <a:prstGeom prst="rect">
            <a:avLst/>
          </a:prstGeom>
          <a:solidFill>
            <a:srgbClr val="A20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0000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3C9CE"/>
                </a:solidFill>
                <a:latin typeface="Source Sans Pro"/>
              </a:rPr>
              <a:t>Every artifact gated, logged, and traceable — and a human always holds the final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